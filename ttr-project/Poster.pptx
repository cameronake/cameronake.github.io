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Lst>
  <p:sldSz cy="21945600" cx="32918400"/>
  <p:notesSz cx="31235650" cy="21126450"/>
  <p:embeddedFontLst>
    <p:embeddedFont>
      <p:font typeface="Source Code Pro"/>
      <p:regular r:id="rId7"/>
      <p:bold r:id="rId8"/>
      <p:italic r:id="rId9"/>
      <p:boldItalic r:id="rId10"/>
    </p:embeddedFont>
    <p:embeddedFont>
      <p:font typeface="Pontano Sans"/>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dQn/H0+SznPD3UrL71yJBAd4Q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PontanoSans-regular.fntdata"/><Relationship Id="rId10" Type="http://schemas.openxmlformats.org/officeDocument/2006/relationships/font" Target="fonts/SourceCodePro-boldItalic.fntdata"/><Relationship Id="rId13" Type="http://customschemas.google.com/relationships/presentationmetadata" Target="metadata"/><Relationship Id="rId12" Type="http://schemas.openxmlformats.org/officeDocument/2006/relationships/font" Target="fonts/PontanoSans-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SourceCodePro-regular.fntdata"/><Relationship Id="rId8" Type="http://schemas.openxmlformats.org/officeDocument/2006/relationships/font" Target="fonts/SourceCodePr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123550" y="10035050"/>
            <a:ext cx="24988500" cy="95069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3123550" y="10035050"/>
            <a:ext cx="24988500" cy="950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1:notes"/>
          <p:cNvSpPr/>
          <p:nvPr>
            <p:ph idx="2" type="sldImg"/>
          </p:nvPr>
        </p:nvSpPr>
        <p:spPr>
          <a:xfrm>
            <a:off x="5206975" y="1584475"/>
            <a:ext cx="20824800" cy="7922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4"/>
          <p:cNvSpPr txBox="1"/>
          <p:nvPr>
            <p:ph idx="1" type="subTitle"/>
          </p:nvPr>
        </p:nvSpPr>
        <p:spPr>
          <a:xfrm>
            <a:off x="1645920" y="5135040"/>
            <a:ext cx="28966680" cy="12728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 name="Shape 12"/>
        <p:cNvGrpSpPr/>
        <p:nvPr/>
      </p:nvGrpSpPr>
      <p:grpSpPr>
        <a:xfrm>
          <a:off x="0" y="0"/>
          <a:ext cx="0" cy="0"/>
          <a:chOff x="0" y="0"/>
          <a:chExt cx="0" cy="0"/>
        </a:xfrm>
      </p:grpSpPr>
      <p:sp>
        <p:nvSpPr>
          <p:cNvPr id="13" name="Google Shape;13;p5"/>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 name="Shape 15"/>
        <p:cNvGrpSpPr/>
        <p:nvPr/>
      </p:nvGrpSpPr>
      <p:grpSpPr>
        <a:xfrm>
          <a:off x="0" y="0"/>
          <a:ext cx="0" cy="0"/>
          <a:chOff x="0" y="0"/>
          <a:chExt cx="0" cy="0"/>
        </a:xfrm>
      </p:grpSpPr>
      <p:sp>
        <p:nvSpPr>
          <p:cNvPr id="16" name="Google Shape;16;p6"/>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6"/>
          <p:cNvSpPr txBox="1"/>
          <p:nvPr>
            <p:ph idx="2"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 name="Shape 21"/>
        <p:cNvGrpSpPr/>
        <p:nvPr/>
      </p:nvGrpSpPr>
      <p:grpSpPr>
        <a:xfrm>
          <a:off x="0" y="0"/>
          <a:ext cx="0" cy="0"/>
          <a:chOff x="0" y="0"/>
          <a:chExt cx="0" cy="0"/>
        </a:xfrm>
      </p:grpSpPr>
      <p:sp>
        <p:nvSpPr>
          <p:cNvPr id="22" name="Google Shape;22;p8"/>
          <p:cNvSpPr txBox="1"/>
          <p:nvPr>
            <p:ph idx="1" type="subTitle"/>
          </p:nvPr>
        </p:nvSpPr>
        <p:spPr>
          <a:xfrm>
            <a:off x="1645920" y="874080"/>
            <a:ext cx="29625120" cy="169891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 name="Shape 23"/>
        <p:cNvGrpSpPr/>
        <p:nvPr/>
      </p:nvGrpSpPr>
      <p:grpSpPr>
        <a:xfrm>
          <a:off x="0" y="0"/>
          <a:ext cx="0" cy="0"/>
          <a:chOff x="0" y="0"/>
          <a:chExt cx="0" cy="0"/>
        </a:xfrm>
      </p:grpSpPr>
      <p:sp>
        <p:nvSpPr>
          <p:cNvPr id="24" name="Google Shape;24;p9"/>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9"/>
          <p:cNvSpPr txBox="1"/>
          <p:nvPr>
            <p:ph idx="2"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9"/>
          <p:cNvSpPr txBox="1"/>
          <p:nvPr>
            <p:ph idx="3"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8" name="Shape 28"/>
        <p:cNvGrpSpPr/>
        <p:nvPr/>
      </p:nvGrpSpPr>
      <p:grpSpPr>
        <a:xfrm>
          <a:off x="0" y="0"/>
          <a:ext cx="0" cy="0"/>
          <a:chOff x="0" y="0"/>
          <a:chExt cx="0" cy="0"/>
        </a:xfrm>
      </p:grpSpPr>
      <p:sp>
        <p:nvSpPr>
          <p:cNvPr id="29" name="Google Shape;29;p10"/>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0"/>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10"/>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3" name="Shape 33"/>
        <p:cNvGrpSpPr/>
        <p:nvPr/>
      </p:nvGrpSpPr>
      <p:grpSpPr>
        <a:xfrm>
          <a:off x="0" y="0"/>
          <a:ext cx="0" cy="0"/>
          <a:chOff x="0" y="0"/>
          <a:chExt cx="0" cy="0"/>
        </a:xfrm>
      </p:grpSpPr>
      <p:sp>
        <p:nvSpPr>
          <p:cNvPr id="34" name="Google Shape;34;p11"/>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1"/>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1"/>
          <p:cNvSpPr txBox="1"/>
          <p:nvPr>
            <p:ph idx="3" type="body"/>
          </p:nvPr>
        </p:nvSpPr>
        <p:spPr>
          <a:xfrm>
            <a:off x="1645920" y="11783160"/>
            <a:ext cx="2896632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8" name="Shape 38"/>
        <p:cNvGrpSpPr/>
        <p:nvPr/>
      </p:nvGrpSpPr>
      <p:grpSpPr>
        <a:xfrm>
          <a:off x="0" y="0"/>
          <a:ext cx="0" cy="0"/>
          <a:chOff x="0" y="0"/>
          <a:chExt cx="0" cy="0"/>
        </a:xfrm>
      </p:grpSpPr>
      <p:sp>
        <p:nvSpPr>
          <p:cNvPr id="39" name="Google Shape;39;p12"/>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2"/>
          <p:cNvSpPr txBox="1"/>
          <p:nvPr>
            <p:ph idx="1" type="body"/>
          </p:nvPr>
        </p:nvSpPr>
        <p:spPr>
          <a:xfrm>
            <a:off x="1645920" y="513504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12"/>
          <p:cNvSpPr txBox="1"/>
          <p:nvPr>
            <p:ph idx="2" type="body"/>
          </p:nvPr>
        </p:nvSpPr>
        <p:spPr>
          <a:xfrm>
            <a:off x="1645920" y="1178316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 name="Shape 42"/>
        <p:cNvGrpSpPr/>
        <p:nvPr/>
      </p:nvGrpSpPr>
      <p:grpSpPr>
        <a:xfrm>
          <a:off x="0" y="0"/>
          <a:ext cx="0" cy="0"/>
          <a:chOff x="0" y="0"/>
          <a:chExt cx="0" cy="0"/>
        </a:xfrm>
      </p:grpSpPr>
      <p:sp>
        <p:nvSpPr>
          <p:cNvPr id="43" name="Google Shape;43;p13"/>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13"/>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13"/>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13"/>
          <p:cNvSpPr txBox="1"/>
          <p:nvPr>
            <p:ph idx="4"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 name="Shape 48"/>
        <p:cNvGrpSpPr/>
        <p:nvPr/>
      </p:nvGrpSpPr>
      <p:grpSpPr>
        <a:xfrm>
          <a:off x="0" y="0"/>
          <a:ext cx="0" cy="0"/>
          <a:chOff x="0" y="0"/>
          <a:chExt cx="0" cy="0"/>
        </a:xfrm>
      </p:grpSpPr>
      <p:sp>
        <p:nvSpPr>
          <p:cNvPr id="49" name="Google Shape;49;p1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14"/>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5"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56" name="Shape 56"/>
        <p:cNvGrpSpPr/>
        <p:nvPr/>
      </p:nvGrpSpPr>
      <p:grpSpPr>
        <a:xfrm>
          <a:off x="0" y="0"/>
          <a:ext cx="0" cy="0"/>
          <a:chOff x="0" y="0"/>
          <a:chExt cx="0" cy="0"/>
        </a:xfrm>
      </p:grpSpPr>
      <p:sp>
        <p:nvSpPr>
          <p:cNvPr id="57" name="Google Shape;57;p1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7"/>
          <p:cNvSpPr txBox="1"/>
          <p:nvPr>
            <p:ph idx="1" type="subTitle"/>
          </p:nvPr>
        </p:nvSpPr>
        <p:spPr>
          <a:xfrm>
            <a:off x="1645920" y="5135040"/>
            <a:ext cx="28966680" cy="12728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9" name="Shape 59"/>
        <p:cNvGrpSpPr/>
        <p:nvPr/>
      </p:nvGrpSpPr>
      <p:grpSpPr>
        <a:xfrm>
          <a:off x="0" y="0"/>
          <a:ext cx="0" cy="0"/>
          <a:chOff x="0" y="0"/>
          <a:chExt cx="0" cy="0"/>
        </a:xfrm>
      </p:grpSpPr>
      <p:sp>
        <p:nvSpPr>
          <p:cNvPr id="60" name="Google Shape;60;p18"/>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8"/>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2" name="Shape 62"/>
        <p:cNvGrpSpPr/>
        <p:nvPr/>
      </p:nvGrpSpPr>
      <p:grpSpPr>
        <a:xfrm>
          <a:off x="0" y="0"/>
          <a:ext cx="0" cy="0"/>
          <a:chOff x="0" y="0"/>
          <a:chExt cx="0" cy="0"/>
        </a:xfrm>
      </p:grpSpPr>
      <p:sp>
        <p:nvSpPr>
          <p:cNvPr id="63" name="Google Shape;63;p19"/>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9"/>
          <p:cNvSpPr txBox="1"/>
          <p:nvPr>
            <p:ph idx="2"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20"/>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68" name="Shape 68"/>
        <p:cNvGrpSpPr/>
        <p:nvPr/>
      </p:nvGrpSpPr>
      <p:grpSpPr>
        <a:xfrm>
          <a:off x="0" y="0"/>
          <a:ext cx="0" cy="0"/>
          <a:chOff x="0" y="0"/>
          <a:chExt cx="0" cy="0"/>
        </a:xfrm>
      </p:grpSpPr>
      <p:sp>
        <p:nvSpPr>
          <p:cNvPr id="69" name="Google Shape;69;p21"/>
          <p:cNvSpPr txBox="1"/>
          <p:nvPr>
            <p:ph idx="1" type="subTitle"/>
          </p:nvPr>
        </p:nvSpPr>
        <p:spPr>
          <a:xfrm>
            <a:off x="1645920" y="874080"/>
            <a:ext cx="29625120" cy="169891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0" name="Shape 70"/>
        <p:cNvGrpSpPr/>
        <p:nvPr/>
      </p:nvGrpSpPr>
      <p:grpSpPr>
        <a:xfrm>
          <a:off x="0" y="0"/>
          <a:ext cx="0" cy="0"/>
          <a:chOff x="0" y="0"/>
          <a:chExt cx="0" cy="0"/>
        </a:xfrm>
      </p:grpSpPr>
      <p:sp>
        <p:nvSpPr>
          <p:cNvPr id="71" name="Google Shape;71;p22"/>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3" name="Google Shape;73;p22"/>
          <p:cNvSpPr txBox="1"/>
          <p:nvPr>
            <p:ph idx="2"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4" name="Google Shape;74;p22"/>
          <p:cNvSpPr txBox="1"/>
          <p:nvPr>
            <p:ph idx="3" type="body"/>
          </p:nvPr>
        </p:nvSpPr>
        <p:spPr>
          <a:xfrm>
            <a:off x="1648836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75" name="Shape 75"/>
        <p:cNvGrpSpPr/>
        <p:nvPr/>
      </p:nvGrpSpPr>
      <p:grpSpPr>
        <a:xfrm>
          <a:off x="0" y="0"/>
          <a:ext cx="0" cy="0"/>
          <a:chOff x="0" y="0"/>
          <a:chExt cx="0" cy="0"/>
        </a:xfrm>
      </p:grpSpPr>
      <p:sp>
        <p:nvSpPr>
          <p:cNvPr id="76" name="Google Shape;76;p23"/>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 type="body"/>
          </p:nvPr>
        </p:nvSpPr>
        <p:spPr>
          <a:xfrm>
            <a:off x="1645920" y="5135040"/>
            <a:ext cx="14135400" cy="127281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8" name="Google Shape;78;p23"/>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9" name="Google Shape;79;p23"/>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0" name="Shape 80"/>
        <p:cNvGrpSpPr/>
        <p:nvPr/>
      </p:nvGrpSpPr>
      <p:grpSpPr>
        <a:xfrm>
          <a:off x="0" y="0"/>
          <a:ext cx="0" cy="0"/>
          <a:chOff x="0" y="0"/>
          <a:chExt cx="0" cy="0"/>
        </a:xfrm>
      </p:grpSpPr>
      <p:sp>
        <p:nvSpPr>
          <p:cNvPr id="81" name="Google Shape;81;p24"/>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3" name="Google Shape;83;p24"/>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4" name="Google Shape;84;p24"/>
          <p:cNvSpPr txBox="1"/>
          <p:nvPr>
            <p:ph idx="3" type="body"/>
          </p:nvPr>
        </p:nvSpPr>
        <p:spPr>
          <a:xfrm>
            <a:off x="1645920" y="11783160"/>
            <a:ext cx="2896632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85" name="Shape 85"/>
        <p:cNvGrpSpPr/>
        <p:nvPr/>
      </p:nvGrpSpPr>
      <p:grpSpPr>
        <a:xfrm>
          <a:off x="0" y="0"/>
          <a:ext cx="0" cy="0"/>
          <a:chOff x="0" y="0"/>
          <a:chExt cx="0" cy="0"/>
        </a:xfrm>
      </p:grpSpPr>
      <p:sp>
        <p:nvSpPr>
          <p:cNvPr id="86" name="Google Shape;86;p25"/>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5"/>
          <p:cNvSpPr txBox="1"/>
          <p:nvPr>
            <p:ph idx="1" type="body"/>
          </p:nvPr>
        </p:nvSpPr>
        <p:spPr>
          <a:xfrm>
            <a:off x="1645920" y="513504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8" name="Google Shape;88;p25"/>
          <p:cNvSpPr txBox="1"/>
          <p:nvPr>
            <p:ph idx="2" type="body"/>
          </p:nvPr>
        </p:nvSpPr>
        <p:spPr>
          <a:xfrm>
            <a:off x="1645920" y="11783160"/>
            <a:ext cx="2896668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89" name="Shape 89"/>
        <p:cNvGrpSpPr/>
        <p:nvPr/>
      </p:nvGrpSpPr>
      <p:grpSpPr>
        <a:xfrm>
          <a:off x="0" y="0"/>
          <a:ext cx="0" cy="0"/>
          <a:chOff x="0" y="0"/>
          <a:chExt cx="0" cy="0"/>
        </a:xfrm>
      </p:grpSpPr>
      <p:sp>
        <p:nvSpPr>
          <p:cNvPr id="90" name="Google Shape;90;p26"/>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6"/>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2" name="Google Shape;92;p26"/>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3" name="Google Shape;93;p26"/>
          <p:cNvSpPr txBox="1"/>
          <p:nvPr>
            <p:ph idx="3" type="body"/>
          </p:nvPr>
        </p:nvSpPr>
        <p:spPr>
          <a:xfrm>
            <a:off x="1648836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4" name="Google Shape;94;p26"/>
          <p:cNvSpPr txBox="1"/>
          <p:nvPr>
            <p:ph idx="4" type="body"/>
          </p:nvPr>
        </p:nvSpPr>
        <p:spPr>
          <a:xfrm>
            <a:off x="1645920" y="1178316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95" name="Shape 95"/>
        <p:cNvGrpSpPr/>
        <p:nvPr/>
      </p:nvGrpSpPr>
      <p:grpSpPr>
        <a:xfrm>
          <a:off x="0" y="0"/>
          <a:ext cx="0" cy="0"/>
          <a:chOff x="0" y="0"/>
          <a:chExt cx="0" cy="0"/>
        </a:xfrm>
      </p:grpSpPr>
      <p:sp>
        <p:nvSpPr>
          <p:cNvPr id="96" name="Google Shape;96;p27"/>
          <p:cNvSpPr txBox="1"/>
          <p:nvPr>
            <p:ph type="title"/>
          </p:nvPr>
        </p:nvSpPr>
        <p:spPr>
          <a:xfrm>
            <a:off x="1645920" y="874080"/>
            <a:ext cx="29625120" cy="36640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7"/>
          <p:cNvSpPr txBox="1"/>
          <p:nvPr>
            <p:ph idx="1" type="body"/>
          </p:nvPr>
        </p:nvSpPr>
        <p:spPr>
          <a:xfrm>
            <a:off x="164592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27"/>
          <p:cNvSpPr txBox="1"/>
          <p:nvPr>
            <p:ph idx="2" type="body"/>
          </p:nvPr>
        </p:nvSpPr>
        <p:spPr>
          <a:xfrm>
            <a:off x="16488360" y="5135040"/>
            <a:ext cx="14135400" cy="6071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2"/>
          <p:cNvSpPr txBox="1"/>
          <p:nvPr>
            <p:ph type="title"/>
          </p:nvPr>
        </p:nvSpPr>
        <p:spPr>
          <a:xfrm>
            <a:off x="1645920" y="874080"/>
            <a:ext cx="29625120" cy="366372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645920" y="5135040"/>
            <a:ext cx="28966680" cy="1272816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5"/>
          <p:cNvSpPr txBox="1"/>
          <p:nvPr>
            <p:ph type="title"/>
          </p:nvPr>
        </p:nvSpPr>
        <p:spPr>
          <a:xfrm>
            <a:off x="1645920" y="874080"/>
            <a:ext cx="29625120" cy="366372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p15"/>
          <p:cNvSpPr txBox="1"/>
          <p:nvPr>
            <p:ph idx="1" type="body"/>
          </p:nvPr>
        </p:nvSpPr>
        <p:spPr>
          <a:xfrm>
            <a:off x="1645920" y="5135040"/>
            <a:ext cx="28967400" cy="1272816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p:nvPr/>
        </p:nvSpPr>
        <p:spPr>
          <a:xfrm>
            <a:off x="6035900" y="460750"/>
            <a:ext cx="20088300" cy="1861800"/>
          </a:xfrm>
          <a:prstGeom prst="roundRect">
            <a:avLst>
              <a:gd fmla="val 16667" name="adj"/>
            </a:avLst>
          </a:prstGeom>
          <a:solidFill>
            <a:srgbClr val="CCFF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0">
                <a:latin typeface="Pontano Sans"/>
                <a:ea typeface="Pontano Sans"/>
                <a:cs typeface="Pontano Sans"/>
                <a:sym typeface="Pontano Sans"/>
              </a:rPr>
              <a:t>Creating a Bot to Play Ticket to Ride</a:t>
            </a:r>
            <a:endParaRPr b="1" sz="6000">
              <a:latin typeface="Pontano Sans"/>
              <a:ea typeface="Pontano Sans"/>
              <a:cs typeface="Pontano Sans"/>
              <a:sym typeface="Pontano Sans"/>
            </a:endParaRPr>
          </a:p>
        </p:txBody>
      </p:sp>
      <p:sp>
        <p:nvSpPr>
          <p:cNvPr id="104" name="Google Shape;104;p1"/>
          <p:cNvSpPr/>
          <p:nvPr/>
        </p:nvSpPr>
        <p:spPr>
          <a:xfrm>
            <a:off x="26603650" y="469850"/>
            <a:ext cx="5853000" cy="1861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latin typeface="Pontano Sans"/>
                <a:ea typeface="Pontano Sans"/>
                <a:cs typeface="Pontano Sans"/>
                <a:sym typeface="Pontano Sans"/>
              </a:rPr>
              <a:t>Cameron Ake</a:t>
            </a:r>
            <a:r>
              <a:rPr lang="en-US" sz="3600">
                <a:latin typeface="Pontano Sans"/>
                <a:ea typeface="Pontano Sans"/>
                <a:cs typeface="Pontano Sans"/>
                <a:sym typeface="Pontano Sans"/>
              </a:rPr>
              <a:t> (pd. 4)</a:t>
            </a:r>
            <a:endParaRPr sz="3600">
              <a:latin typeface="Pontano Sans"/>
              <a:ea typeface="Pontano Sans"/>
              <a:cs typeface="Pontano Sans"/>
              <a:sym typeface="Pontano Sans"/>
            </a:endParaRPr>
          </a:p>
          <a:p>
            <a:pPr indent="0" lvl="0" marL="0" rtl="0" algn="ctr">
              <a:spcBef>
                <a:spcPts val="0"/>
              </a:spcBef>
              <a:spcAft>
                <a:spcPts val="0"/>
              </a:spcAft>
              <a:buNone/>
            </a:pPr>
            <a:r>
              <a:rPr lang="en-US" sz="3600">
                <a:latin typeface="Pontano Sans"/>
                <a:ea typeface="Pontano Sans"/>
                <a:cs typeface="Pontano Sans"/>
                <a:sym typeface="Pontano Sans"/>
              </a:rPr>
              <a:t>Yilmaz Systems Lab 2024</a:t>
            </a:r>
            <a:endParaRPr sz="3600">
              <a:latin typeface="Pontano Sans"/>
              <a:ea typeface="Pontano Sans"/>
              <a:cs typeface="Pontano Sans"/>
              <a:sym typeface="Pontano Sans"/>
            </a:endParaRPr>
          </a:p>
        </p:txBody>
      </p:sp>
      <p:sp>
        <p:nvSpPr>
          <p:cNvPr id="105" name="Google Shape;105;p1"/>
          <p:cNvSpPr/>
          <p:nvPr/>
        </p:nvSpPr>
        <p:spPr>
          <a:xfrm>
            <a:off x="428900" y="469850"/>
            <a:ext cx="5143500" cy="1861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3600">
                <a:latin typeface="Pontano Sans"/>
                <a:ea typeface="Pontano Sans"/>
                <a:cs typeface="Pontano Sans"/>
                <a:sym typeface="Pontano Sans"/>
              </a:rPr>
              <a:t>      </a:t>
            </a:r>
            <a:r>
              <a:rPr lang="en-US" sz="3600">
                <a:latin typeface="Pontano Sans"/>
                <a:ea typeface="Pontano Sans"/>
                <a:cs typeface="Pontano Sans"/>
                <a:sym typeface="Pontano Sans"/>
              </a:rPr>
              <a:t>QR Code</a:t>
            </a:r>
            <a:endParaRPr sz="3600">
              <a:latin typeface="Pontano Sans"/>
              <a:ea typeface="Pontano Sans"/>
              <a:cs typeface="Pontano Sans"/>
              <a:sym typeface="Pontano Sans"/>
            </a:endParaRPr>
          </a:p>
          <a:p>
            <a:pPr indent="0" lvl="0" marL="0" rtl="0" algn="l">
              <a:spcBef>
                <a:spcPts val="0"/>
              </a:spcBef>
              <a:spcAft>
                <a:spcPts val="0"/>
              </a:spcAft>
              <a:buNone/>
            </a:pPr>
            <a:r>
              <a:rPr lang="en-US" sz="3600">
                <a:latin typeface="Pontano Sans"/>
                <a:ea typeface="Pontano Sans"/>
                <a:cs typeface="Pontano Sans"/>
                <a:sym typeface="Pontano Sans"/>
              </a:rPr>
              <a:t>      </a:t>
            </a:r>
            <a:r>
              <a:rPr lang="en-US" sz="3600">
                <a:latin typeface="Pontano Sans"/>
                <a:ea typeface="Pontano Sans"/>
                <a:cs typeface="Pontano Sans"/>
                <a:sym typeface="Pontano Sans"/>
              </a:rPr>
              <a:t> to Video</a:t>
            </a:r>
            <a:endParaRPr sz="3600">
              <a:latin typeface="Pontano Sans"/>
              <a:ea typeface="Pontano Sans"/>
              <a:cs typeface="Pontano Sans"/>
              <a:sym typeface="Pontano Sans"/>
            </a:endParaRPr>
          </a:p>
        </p:txBody>
      </p:sp>
      <p:sp>
        <p:nvSpPr>
          <p:cNvPr id="106" name="Google Shape;106;p1"/>
          <p:cNvSpPr/>
          <p:nvPr/>
        </p:nvSpPr>
        <p:spPr>
          <a:xfrm>
            <a:off x="1311900" y="2908250"/>
            <a:ext cx="7407600" cy="1414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800">
                <a:latin typeface="Pontano Sans"/>
                <a:ea typeface="Pontano Sans"/>
                <a:cs typeface="Pontano Sans"/>
                <a:sym typeface="Pontano Sans"/>
              </a:rPr>
              <a:t>Introduction</a:t>
            </a:r>
            <a:endParaRPr b="1" sz="4800">
              <a:latin typeface="Pontano Sans"/>
              <a:ea typeface="Pontano Sans"/>
              <a:cs typeface="Pontano Sans"/>
              <a:sym typeface="Pontano Sans"/>
            </a:endParaRPr>
          </a:p>
        </p:txBody>
      </p:sp>
      <p:sp>
        <p:nvSpPr>
          <p:cNvPr id="107" name="Google Shape;107;p1"/>
          <p:cNvSpPr/>
          <p:nvPr/>
        </p:nvSpPr>
        <p:spPr>
          <a:xfrm>
            <a:off x="1311900" y="11854725"/>
            <a:ext cx="7407600" cy="1414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800">
                <a:latin typeface="Pontano Sans"/>
                <a:ea typeface="Pontano Sans"/>
                <a:cs typeface="Pontano Sans"/>
                <a:sym typeface="Pontano Sans"/>
              </a:rPr>
              <a:t>Methods</a:t>
            </a:r>
            <a:endParaRPr b="1" sz="4800">
              <a:latin typeface="Pontano Sans"/>
              <a:ea typeface="Pontano Sans"/>
              <a:cs typeface="Pontano Sans"/>
              <a:sym typeface="Pontano Sans"/>
            </a:endParaRPr>
          </a:p>
        </p:txBody>
      </p:sp>
      <p:sp>
        <p:nvSpPr>
          <p:cNvPr id="108" name="Google Shape;108;p1"/>
          <p:cNvSpPr/>
          <p:nvPr/>
        </p:nvSpPr>
        <p:spPr>
          <a:xfrm>
            <a:off x="24042350" y="2908250"/>
            <a:ext cx="7407600" cy="1414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800">
                <a:latin typeface="Pontano Sans"/>
                <a:ea typeface="Pontano Sans"/>
                <a:cs typeface="Pontano Sans"/>
                <a:sym typeface="Pontano Sans"/>
              </a:rPr>
              <a:t>Results</a:t>
            </a:r>
            <a:endParaRPr b="1" sz="4800">
              <a:latin typeface="Pontano Sans"/>
              <a:ea typeface="Pontano Sans"/>
              <a:cs typeface="Pontano Sans"/>
              <a:sym typeface="Pontano Sans"/>
            </a:endParaRPr>
          </a:p>
        </p:txBody>
      </p:sp>
      <p:sp>
        <p:nvSpPr>
          <p:cNvPr id="109" name="Google Shape;109;p1"/>
          <p:cNvSpPr/>
          <p:nvPr/>
        </p:nvSpPr>
        <p:spPr>
          <a:xfrm>
            <a:off x="23966150" y="11778525"/>
            <a:ext cx="7407600" cy="14148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4800">
                <a:latin typeface="Pontano Sans"/>
                <a:ea typeface="Pontano Sans"/>
                <a:cs typeface="Pontano Sans"/>
                <a:sym typeface="Pontano Sans"/>
              </a:rPr>
              <a:t>Conclusion</a:t>
            </a:r>
            <a:endParaRPr b="1" sz="4800">
              <a:latin typeface="Pontano Sans"/>
              <a:ea typeface="Pontano Sans"/>
              <a:cs typeface="Pontano Sans"/>
              <a:sym typeface="Pontano Sans"/>
            </a:endParaRPr>
          </a:p>
        </p:txBody>
      </p:sp>
      <p:pic>
        <p:nvPicPr>
          <p:cNvPr id="110" name="Google Shape;110;p1"/>
          <p:cNvPicPr preferRelativeResize="0"/>
          <p:nvPr/>
        </p:nvPicPr>
        <p:blipFill rotWithShape="1">
          <a:blip r:embed="rId3">
            <a:alphaModFix/>
          </a:blip>
          <a:srcRect b="4843" l="0" r="0" t="0"/>
          <a:stretch/>
        </p:blipFill>
        <p:spPr>
          <a:xfrm>
            <a:off x="10037500" y="2832050"/>
            <a:ext cx="12616500" cy="5541000"/>
          </a:xfrm>
          <a:prstGeom prst="roundRect">
            <a:avLst>
              <a:gd fmla="val 16667" name="adj"/>
            </a:avLst>
          </a:prstGeom>
          <a:noFill/>
          <a:ln>
            <a:noFill/>
          </a:ln>
        </p:spPr>
      </p:pic>
      <p:sp>
        <p:nvSpPr>
          <p:cNvPr id="111" name="Google Shape;111;p1"/>
          <p:cNvSpPr txBox="1"/>
          <p:nvPr/>
        </p:nvSpPr>
        <p:spPr>
          <a:xfrm>
            <a:off x="875875" y="4463625"/>
            <a:ext cx="8358300" cy="6957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4000">
                <a:latin typeface="Pontano Sans"/>
                <a:ea typeface="Pontano Sans"/>
                <a:cs typeface="Pontano Sans"/>
                <a:sym typeface="Pontano Sans"/>
              </a:rPr>
              <a:t>Ticket to Ride is a popular board game of strategy, where players attempt to connect cities cross-country by playing cards on connections. Due to the complicated nature of the game, </a:t>
            </a:r>
            <a:r>
              <a:rPr lang="en-US" sz="4000">
                <a:solidFill>
                  <a:schemeClr val="dk1"/>
                </a:solidFill>
                <a:latin typeface="Pontano Sans"/>
                <a:ea typeface="Pontano Sans"/>
                <a:cs typeface="Pontano Sans"/>
                <a:sym typeface="Pontano Sans"/>
              </a:rPr>
              <a:t>existing strategies to create bots such as reinforcement learning require too much computation, and </a:t>
            </a:r>
            <a:r>
              <a:rPr lang="en-US" sz="4000">
                <a:latin typeface="Pontano Sans"/>
                <a:ea typeface="Pontano Sans"/>
                <a:cs typeface="Pontano Sans"/>
                <a:sym typeface="Pontano Sans"/>
              </a:rPr>
              <a:t>existing bots that players can play against play suboptimally and are thus not enriching to play against.</a:t>
            </a:r>
            <a:endParaRPr sz="4000">
              <a:latin typeface="Pontano Sans"/>
              <a:ea typeface="Pontano Sans"/>
              <a:cs typeface="Pontano Sans"/>
              <a:sym typeface="Pontano Sans"/>
            </a:endParaRPr>
          </a:p>
        </p:txBody>
      </p:sp>
      <p:sp>
        <p:nvSpPr>
          <p:cNvPr id="112" name="Google Shape;112;p1"/>
          <p:cNvSpPr txBox="1"/>
          <p:nvPr/>
        </p:nvSpPr>
        <p:spPr>
          <a:xfrm>
            <a:off x="875875" y="13413975"/>
            <a:ext cx="8358300" cy="8188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4000">
                <a:latin typeface="Pontano Sans"/>
                <a:ea typeface="Pontano Sans"/>
                <a:cs typeface="Pontano Sans"/>
                <a:sym typeface="Pontano Sans"/>
              </a:rPr>
              <a:t>To create strong bots in a feasible manner computationally, I used a genetic algorithm and a series of heuristic functions. Each heuristic function had a weight that signified how much the bot cared about it (in other words, some bots aimed to collect useful cards, while others aimed to play quickly). By pitting bots against each other and “breeding” the best-performing bots to make new, similar bots, I aimed to optimize the bot’s strategic priorities.</a:t>
            </a:r>
            <a:endParaRPr sz="4000">
              <a:latin typeface="Pontano Sans"/>
              <a:ea typeface="Pontano Sans"/>
              <a:cs typeface="Pontano Sans"/>
              <a:sym typeface="Pontano Sans"/>
            </a:endParaRPr>
          </a:p>
        </p:txBody>
      </p:sp>
      <p:sp>
        <p:nvSpPr>
          <p:cNvPr id="113" name="Google Shape;113;p1"/>
          <p:cNvSpPr txBox="1"/>
          <p:nvPr/>
        </p:nvSpPr>
        <p:spPr>
          <a:xfrm>
            <a:off x="23548850" y="13474200"/>
            <a:ext cx="8358300" cy="8188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4000">
                <a:latin typeface="Pontano Sans"/>
                <a:ea typeface="Pontano Sans"/>
                <a:cs typeface="Pontano Sans"/>
                <a:sym typeface="Pontano Sans"/>
              </a:rPr>
              <a:t>While the best bot created by the algorithm performed well against other bots that used heuristic functions, it was not particularly strong against random bots and performed noticeably worse than real players would. More exploration of the final bot playing against existing bots would be useful. In addition, adding more </a:t>
            </a:r>
            <a:r>
              <a:rPr lang="en-US" sz="4000">
                <a:latin typeface="Pontano Sans"/>
                <a:ea typeface="Pontano Sans"/>
                <a:cs typeface="Pontano Sans"/>
                <a:sym typeface="Pontano Sans"/>
              </a:rPr>
              <a:t>heuristics would help the bots to “learn” more strategy. All in all, though the produced bots were fairly suitable, they did not perform as well as hoped.</a:t>
            </a:r>
            <a:endParaRPr sz="4000">
              <a:latin typeface="Pontano Sans"/>
              <a:ea typeface="Pontano Sans"/>
              <a:cs typeface="Pontano Sans"/>
              <a:sym typeface="Pontano Sans"/>
            </a:endParaRPr>
          </a:p>
        </p:txBody>
      </p:sp>
      <p:sp>
        <p:nvSpPr>
          <p:cNvPr id="114" name="Google Shape;114;p1"/>
          <p:cNvSpPr txBox="1"/>
          <p:nvPr/>
        </p:nvSpPr>
        <p:spPr>
          <a:xfrm>
            <a:off x="23567000" y="4457825"/>
            <a:ext cx="8358300" cy="6957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4000">
                <a:latin typeface="Pontano Sans"/>
                <a:ea typeface="Pontano Sans"/>
                <a:cs typeface="Pontano Sans"/>
                <a:sym typeface="Pontano Sans"/>
              </a:rPr>
              <a:t>The algorithm selected a “favorite” bot, a bot that it found outperformed the bots that had different weights for their strategic preferences. This bot often scored over 100 points, but it performed worse against completely random bots, potentially due to it “expecting” better gameplay from other bots. Aside from that difficulty, the bots also took unreasonable amounts of time to play games.</a:t>
            </a:r>
            <a:endParaRPr sz="4000">
              <a:latin typeface="Pontano Sans"/>
              <a:ea typeface="Pontano Sans"/>
              <a:cs typeface="Pontano Sans"/>
              <a:sym typeface="Pontano Sans"/>
            </a:endParaRPr>
          </a:p>
        </p:txBody>
      </p:sp>
      <p:sp>
        <p:nvSpPr>
          <p:cNvPr id="115" name="Google Shape;115;p1"/>
          <p:cNvSpPr/>
          <p:nvPr/>
        </p:nvSpPr>
        <p:spPr>
          <a:xfrm>
            <a:off x="9808276" y="16725750"/>
            <a:ext cx="5687700" cy="1790100"/>
          </a:xfrm>
          <a:prstGeom prst="roundRect">
            <a:avLst>
              <a:gd fmla="val 16667" name="adj"/>
            </a:avLst>
          </a:prstGeom>
          <a:solidFill>
            <a:srgbClr val="CC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300">
                <a:latin typeface="Source Code Pro"/>
                <a:ea typeface="Source Code Pro"/>
                <a:cs typeface="Source Code Pro"/>
                <a:sym typeface="Source Code Pro"/>
              </a:rPr>
              <a:t>Bots play game:</a:t>
            </a:r>
            <a:endParaRPr sz="2300">
              <a:latin typeface="Source Code Pro"/>
              <a:ea typeface="Source Code Pro"/>
              <a:cs typeface="Source Code Pro"/>
              <a:sym typeface="Source Code Pro"/>
            </a:endParaRPr>
          </a:p>
          <a:p>
            <a:pPr indent="0" lvl="0" marL="0" rtl="0" algn="l">
              <a:spcBef>
                <a:spcPts val="0"/>
              </a:spcBef>
              <a:spcAft>
                <a:spcPts val="0"/>
              </a:spcAft>
              <a:buNone/>
            </a:pPr>
            <a:r>
              <a:rPr lang="en-US" sz="2300">
                <a:latin typeface="Source Code Pro"/>
                <a:ea typeface="Source Code Pro"/>
                <a:cs typeface="Source Code Pro"/>
                <a:sym typeface="Source Code Pro"/>
              </a:rPr>
              <a:t>Assign each bot a probability of surviving/reproducing, based on its score in the game</a:t>
            </a:r>
            <a:endParaRPr sz="2300">
              <a:latin typeface="Source Code Pro"/>
              <a:ea typeface="Source Code Pro"/>
              <a:cs typeface="Source Code Pro"/>
              <a:sym typeface="Source Code Pro"/>
            </a:endParaRPr>
          </a:p>
        </p:txBody>
      </p:sp>
      <p:sp>
        <p:nvSpPr>
          <p:cNvPr id="116" name="Google Shape;116;p1"/>
          <p:cNvSpPr/>
          <p:nvPr/>
        </p:nvSpPr>
        <p:spPr>
          <a:xfrm>
            <a:off x="17279905" y="17031479"/>
            <a:ext cx="5687700" cy="1555500"/>
          </a:xfrm>
          <a:prstGeom prst="roundRect">
            <a:avLst>
              <a:gd fmla="val 16667" name="adj"/>
            </a:avLst>
          </a:prstGeom>
          <a:solidFill>
            <a:srgbClr val="CC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300">
                <a:latin typeface="Source Code Pro"/>
                <a:ea typeface="Source Code Pro"/>
                <a:cs typeface="Source Code Pro"/>
                <a:sym typeface="Source Code Pro"/>
              </a:rPr>
              <a:t>Bots survive:</a:t>
            </a:r>
            <a:endParaRPr b="1" sz="2300">
              <a:latin typeface="Source Code Pro"/>
              <a:ea typeface="Source Code Pro"/>
              <a:cs typeface="Source Code Pro"/>
              <a:sym typeface="Source Code Pro"/>
            </a:endParaRPr>
          </a:p>
          <a:p>
            <a:pPr indent="0" lvl="0" marL="0" rtl="0" algn="l">
              <a:spcBef>
                <a:spcPts val="0"/>
              </a:spcBef>
              <a:spcAft>
                <a:spcPts val="0"/>
              </a:spcAft>
              <a:buNone/>
            </a:pPr>
            <a:r>
              <a:rPr lang="en-US" sz="2300">
                <a:latin typeface="Source Code Pro"/>
                <a:ea typeface="Source Code Pro"/>
                <a:cs typeface="Source Code Pro"/>
                <a:sym typeface="Source Code Pro"/>
              </a:rPr>
              <a:t>Select 10 of 20 bots to survive</a:t>
            </a:r>
            <a:endParaRPr sz="2300">
              <a:latin typeface="Source Code Pro"/>
              <a:ea typeface="Source Code Pro"/>
              <a:cs typeface="Source Code Pro"/>
              <a:sym typeface="Source Code Pro"/>
            </a:endParaRPr>
          </a:p>
        </p:txBody>
      </p:sp>
      <p:sp>
        <p:nvSpPr>
          <p:cNvPr id="117" name="Google Shape;117;p1"/>
          <p:cNvSpPr/>
          <p:nvPr/>
        </p:nvSpPr>
        <p:spPr>
          <a:xfrm>
            <a:off x="9967086" y="19122488"/>
            <a:ext cx="4922100" cy="1790100"/>
          </a:xfrm>
          <a:prstGeom prst="roundRect">
            <a:avLst>
              <a:gd fmla="val 16667" name="adj"/>
            </a:avLst>
          </a:prstGeom>
          <a:solidFill>
            <a:srgbClr val="CC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300">
                <a:latin typeface="Source Code Pro"/>
                <a:ea typeface="Source Code Pro"/>
                <a:cs typeface="Source Code Pro"/>
                <a:sym typeface="Source Code Pro"/>
              </a:rPr>
              <a:t>Create children:</a:t>
            </a:r>
            <a:endParaRPr b="1" sz="2300">
              <a:latin typeface="Source Code Pro"/>
              <a:ea typeface="Source Code Pro"/>
              <a:cs typeface="Source Code Pro"/>
              <a:sym typeface="Source Code Pro"/>
            </a:endParaRPr>
          </a:p>
          <a:p>
            <a:pPr indent="0" lvl="0" marL="0" rtl="0" algn="l">
              <a:spcBef>
                <a:spcPts val="0"/>
              </a:spcBef>
              <a:spcAft>
                <a:spcPts val="0"/>
              </a:spcAft>
              <a:buNone/>
            </a:pPr>
            <a:r>
              <a:rPr lang="en-US" sz="2300">
                <a:latin typeface="Source Code Pro"/>
                <a:ea typeface="Source Code Pro"/>
                <a:cs typeface="Source Code Pro"/>
                <a:sym typeface="Source Code Pro"/>
              </a:rPr>
              <a:t>Child gets half of each parent’s parameters and shifts them a bit</a:t>
            </a:r>
            <a:endParaRPr sz="2300">
              <a:latin typeface="Source Code Pro"/>
              <a:ea typeface="Source Code Pro"/>
              <a:cs typeface="Source Code Pro"/>
              <a:sym typeface="Source Code Pro"/>
            </a:endParaRPr>
          </a:p>
        </p:txBody>
      </p:sp>
      <p:sp>
        <p:nvSpPr>
          <p:cNvPr id="118" name="Google Shape;118;p1"/>
          <p:cNvSpPr/>
          <p:nvPr/>
        </p:nvSpPr>
        <p:spPr>
          <a:xfrm>
            <a:off x="15505612" y="17531986"/>
            <a:ext cx="1764600" cy="554400"/>
          </a:xfrm>
          <a:prstGeom prst="rightArrow">
            <a:avLst>
              <a:gd fmla="val 50000" name="adj1"/>
              <a:gd fmla="val 50000" name="adj2"/>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
          <p:cNvSpPr/>
          <p:nvPr/>
        </p:nvSpPr>
        <p:spPr>
          <a:xfrm rot="5400000">
            <a:off x="19640282" y="18604288"/>
            <a:ext cx="545700" cy="554400"/>
          </a:xfrm>
          <a:prstGeom prst="rightArrow">
            <a:avLst>
              <a:gd fmla="val 50000" name="adj1"/>
              <a:gd fmla="val 50000" name="adj2"/>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
          <p:cNvSpPr/>
          <p:nvPr/>
        </p:nvSpPr>
        <p:spPr>
          <a:xfrm rot="10799140">
            <a:off x="14880204" y="19676575"/>
            <a:ext cx="2399700" cy="554400"/>
          </a:xfrm>
          <a:prstGeom prst="rightArrow">
            <a:avLst>
              <a:gd fmla="val 50000" name="adj1"/>
              <a:gd fmla="val 50000" name="adj2"/>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
          <p:cNvSpPr/>
          <p:nvPr/>
        </p:nvSpPr>
        <p:spPr>
          <a:xfrm>
            <a:off x="17279915" y="19175955"/>
            <a:ext cx="5687700" cy="1555500"/>
          </a:xfrm>
          <a:prstGeom prst="roundRect">
            <a:avLst>
              <a:gd fmla="val 16667" name="adj"/>
            </a:avLst>
          </a:prstGeom>
          <a:solidFill>
            <a:srgbClr val="CC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300">
                <a:latin typeface="Source Code Pro"/>
                <a:ea typeface="Source Code Pro"/>
                <a:cs typeface="Source Code Pro"/>
                <a:sym typeface="Source Code Pro"/>
              </a:rPr>
              <a:t>Bots breed:</a:t>
            </a:r>
            <a:endParaRPr b="1" sz="2300">
              <a:latin typeface="Source Code Pro"/>
              <a:ea typeface="Source Code Pro"/>
              <a:cs typeface="Source Code Pro"/>
              <a:sym typeface="Source Code Pro"/>
            </a:endParaRPr>
          </a:p>
          <a:p>
            <a:pPr indent="0" lvl="0" marL="0" rtl="0" algn="l">
              <a:spcBef>
                <a:spcPts val="0"/>
              </a:spcBef>
              <a:spcAft>
                <a:spcPts val="0"/>
              </a:spcAft>
              <a:buNone/>
            </a:pPr>
            <a:r>
              <a:rPr lang="en-US" sz="2300">
                <a:latin typeface="Source Code Pro"/>
                <a:ea typeface="Source Code Pro"/>
                <a:cs typeface="Source Code Pro"/>
                <a:sym typeface="Source Code Pro"/>
              </a:rPr>
              <a:t>Select pairs of bots to breed</a:t>
            </a:r>
            <a:endParaRPr sz="2300">
              <a:latin typeface="Source Code Pro"/>
              <a:ea typeface="Source Code Pro"/>
              <a:cs typeface="Source Code Pro"/>
              <a:sym typeface="Source Code Pro"/>
            </a:endParaRPr>
          </a:p>
        </p:txBody>
      </p:sp>
      <p:sp>
        <p:nvSpPr>
          <p:cNvPr id="122" name="Google Shape;122;p1"/>
          <p:cNvSpPr/>
          <p:nvPr/>
        </p:nvSpPr>
        <p:spPr>
          <a:xfrm flipH="1" rot="5400000">
            <a:off x="11934227" y="18537043"/>
            <a:ext cx="596700" cy="554400"/>
          </a:xfrm>
          <a:prstGeom prst="rightArrow">
            <a:avLst>
              <a:gd fmla="val 50000" name="adj1"/>
              <a:gd fmla="val 50000" name="adj2"/>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
          <p:cNvSpPr/>
          <p:nvPr/>
        </p:nvSpPr>
        <p:spPr>
          <a:xfrm>
            <a:off x="15465919" y="18776024"/>
            <a:ext cx="1550700" cy="554400"/>
          </a:xfrm>
          <a:prstGeom prst="roundRect">
            <a:avLst>
              <a:gd fmla="val 16667" name="adj"/>
            </a:avLst>
          </a:prstGeom>
          <a:solidFill>
            <a:srgbClr val="FFCC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2300" u="sng">
                <a:latin typeface="Source Code Pro"/>
                <a:ea typeface="Source Code Pro"/>
                <a:cs typeface="Source Code Pro"/>
                <a:sym typeface="Source Code Pro"/>
              </a:rPr>
              <a:t>repeat!</a:t>
            </a:r>
            <a:endParaRPr i="1" sz="2300" u="sng">
              <a:latin typeface="Source Code Pro"/>
              <a:ea typeface="Source Code Pro"/>
              <a:cs typeface="Source Code Pro"/>
              <a:sym typeface="Source Code Pro"/>
            </a:endParaRPr>
          </a:p>
        </p:txBody>
      </p:sp>
      <p:sp>
        <p:nvSpPr>
          <p:cNvPr id="124" name="Google Shape;124;p1"/>
          <p:cNvSpPr txBox="1"/>
          <p:nvPr/>
        </p:nvSpPr>
        <p:spPr>
          <a:xfrm>
            <a:off x="9534338" y="8373038"/>
            <a:ext cx="13732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3000">
                <a:latin typeface="Pontano Sans"/>
                <a:ea typeface="Pontano Sans"/>
                <a:cs typeface="Pontano Sans"/>
                <a:sym typeface="Pontano Sans"/>
              </a:rPr>
              <a:t>Fig. 1: A Ticket to Ride board during a game.</a:t>
            </a:r>
            <a:endParaRPr i="1" sz="3000">
              <a:latin typeface="Pontano Sans"/>
              <a:ea typeface="Pontano Sans"/>
              <a:cs typeface="Pontano Sans"/>
              <a:sym typeface="Pontano Sans"/>
            </a:endParaRPr>
          </a:p>
        </p:txBody>
      </p:sp>
      <p:sp>
        <p:nvSpPr>
          <p:cNvPr id="125" name="Google Shape;125;p1"/>
          <p:cNvSpPr txBox="1"/>
          <p:nvPr/>
        </p:nvSpPr>
        <p:spPr>
          <a:xfrm>
            <a:off x="9525250" y="20939413"/>
            <a:ext cx="13732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3000">
                <a:latin typeface="Pontano Sans"/>
                <a:ea typeface="Pontano Sans"/>
                <a:cs typeface="Pontano Sans"/>
                <a:sym typeface="Pontano Sans"/>
              </a:rPr>
              <a:t>Fig. 3: Diagram of my algorithm to create the best bot.</a:t>
            </a:r>
            <a:endParaRPr i="1" sz="3000">
              <a:latin typeface="Pontano Sans"/>
              <a:ea typeface="Pontano Sans"/>
              <a:cs typeface="Pontano Sans"/>
              <a:sym typeface="Pontano Sans"/>
            </a:endParaRPr>
          </a:p>
        </p:txBody>
      </p:sp>
      <p:sp>
        <p:nvSpPr>
          <p:cNvPr id="126" name="Google Shape;126;p1"/>
          <p:cNvSpPr txBox="1"/>
          <p:nvPr/>
        </p:nvSpPr>
        <p:spPr>
          <a:xfrm>
            <a:off x="9525250" y="15453013"/>
            <a:ext cx="13732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3000">
                <a:latin typeface="Pontano Sans"/>
                <a:ea typeface="Pontano Sans"/>
                <a:cs typeface="Pontano Sans"/>
                <a:sym typeface="Pontano Sans"/>
              </a:rPr>
              <a:t>Fig. 2: Graph of average scores in testing vs. bot type.</a:t>
            </a:r>
            <a:endParaRPr i="1" sz="3000">
              <a:latin typeface="Pontano Sans"/>
              <a:ea typeface="Pontano Sans"/>
              <a:cs typeface="Pontano Sans"/>
              <a:sym typeface="Pontano Sans"/>
            </a:endParaRPr>
          </a:p>
        </p:txBody>
      </p:sp>
      <p:pic>
        <p:nvPicPr>
          <p:cNvPr id="127" name="Google Shape;127;p1" title="Chart"/>
          <p:cNvPicPr preferRelativeResize="0"/>
          <p:nvPr/>
        </p:nvPicPr>
        <p:blipFill rotWithShape="1">
          <a:blip r:embed="rId4">
            <a:alphaModFix/>
          </a:blip>
          <a:srcRect b="3253" l="0" r="0" t="4589"/>
          <a:stretch/>
        </p:blipFill>
        <p:spPr>
          <a:xfrm>
            <a:off x="10920405" y="9652087"/>
            <a:ext cx="10427532" cy="5947037"/>
          </a:xfrm>
          <a:prstGeom prst="rect">
            <a:avLst/>
          </a:prstGeom>
          <a:noFill/>
          <a:ln>
            <a:noFill/>
          </a:ln>
        </p:spPr>
      </p:pic>
      <p:pic>
        <p:nvPicPr>
          <p:cNvPr id="128" name="Google Shape;128;p1"/>
          <p:cNvPicPr preferRelativeResize="0"/>
          <p:nvPr/>
        </p:nvPicPr>
        <p:blipFill>
          <a:blip r:embed="rId5">
            <a:alphaModFix/>
          </a:blip>
          <a:stretch>
            <a:fillRect/>
          </a:stretch>
        </p:blipFill>
        <p:spPr>
          <a:xfrm>
            <a:off x="3742725" y="518450"/>
            <a:ext cx="1764600" cy="1764600"/>
          </a:xfrm>
          <a:prstGeom prst="roundRect">
            <a:avLst>
              <a:gd fmla="val 13809" name="adj"/>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