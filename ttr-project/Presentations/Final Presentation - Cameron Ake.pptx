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Amatic SC"/>
      <p:regular r:id="rId24"/>
      <p:bold r:id="rId25"/>
    </p:embeddedFont>
    <p:embeddedFont>
      <p:font typeface="Source Code Pr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AmaticSC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SourceCodePro-regular.fntdata"/><Relationship Id="rId25" Type="http://schemas.openxmlformats.org/officeDocument/2006/relationships/font" Target="fonts/AmaticSC-bold.fntdata"/><Relationship Id="rId28" Type="http://schemas.openxmlformats.org/officeDocument/2006/relationships/font" Target="fonts/SourceCodePro-italic.fntdata"/><Relationship Id="rId27" Type="http://schemas.openxmlformats.org/officeDocument/2006/relationships/font" Target="fonts/SourceCodePr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SourceCodePr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oneboardfamily.com/app-review-ticket-ride/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912f9f9016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912f9f9016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912f9f9016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912f9f901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912f9f9016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912f9f9016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Image from </a:t>
            </a:r>
            <a:r>
              <a:rPr lang="en" sz="1400" u="sng">
                <a:solidFill>
                  <a:srgbClr val="DB4437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https://oneboardfamily.com/app-review-ticket-ride/</a:t>
            </a:r>
            <a:r>
              <a:rPr lang="en" sz="14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912f9f9016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912f9f9016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912f9f9016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912f9f9016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912f9f9016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912f9f9016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cf162e63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cf162e63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912f9f9016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912f9f9016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912f9f9016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912f9f9016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a393ec657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a393ec657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cdad76eb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cdad76eb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cdad76eb9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cdad76eb9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912f9f9016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912f9f9016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912f9f9016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912f9f9016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912f9f9016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912f9f9016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912f9f9016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912f9f9016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912f9f9016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912f9f9016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21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M8-w5snfFyDpirhIeVdil7jgDGdrYtME/view" TargetMode="External"/><Relationship Id="rId4" Type="http://schemas.openxmlformats.org/officeDocument/2006/relationships/image" Target="../media/image4.jpg"/><Relationship Id="rId5" Type="http://schemas.openxmlformats.org/officeDocument/2006/relationships/hyperlink" Target="http://drive.google.com/file/d/1byMlx3xECx2XBM39mpVP7U2MJxWH7Oq0/view" TargetMode="External"/><Relationship Id="rId6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stackoverflow.com/questions/4142151/how-to-import-the-class-within-the-same-directory-or-sub-directory" TargetMode="External"/><Relationship Id="rId4" Type="http://schemas.openxmlformats.org/officeDocument/2006/relationships/hyperlink" Target="https://ticket-to-ride.fandom.com/wiki/List_of_Ticket_to_Ride_Destination_Tickets" TargetMode="External"/><Relationship Id="rId10" Type="http://schemas.openxmlformats.org/officeDocument/2006/relationships/hyperlink" Target="https://m.media-amazon.com/images/I/B19d+VcYwWS.png" TargetMode="External"/><Relationship Id="rId9" Type="http://schemas.openxmlformats.org/officeDocument/2006/relationships/hyperlink" Target="https://ieeexplore.ieee.org/abstract/document/10154465" TargetMode="External"/><Relationship Id="rId5" Type="http://schemas.openxmlformats.org/officeDocument/2006/relationships/hyperlink" Target="https://www.eecs.tufts.edu/~jsinapov/teaching/comp150_RL/reports/Nguyen_Dinjian_report.pdf" TargetMode="External"/><Relationship Id="rId6" Type="http://schemas.openxmlformats.org/officeDocument/2006/relationships/hyperlink" Target="https://www.reddit.com/r/tickettoride/comments/vxy4rr/i_built_an_ai_to_play_the_physical_ticket_to_ride/" TargetMode="External"/><Relationship Id="rId7" Type="http://schemas.openxmlformats.org/officeDocument/2006/relationships/hyperlink" Target="https://github.com/ss2cp/AI-TicketToRide" TargetMode="External"/><Relationship Id="rId8" Type="http://schemas.openxmlformats.org/officeDocument/2006/relationships/hyperlink" Target="https://www.railbyrail.com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ctrTitle"/>
          </p:nvPr>
        </p:nvSpPr>
        <p:spPr>
          <a:xfrm>
            <a:off x="311700" y="9255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Creating a Bot to Play Ticket to Ride</a:t>
            </a:r>
            <a:endParaRPr b="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48250" y="3576850"/>
            <a:ext cx="8705100" cy="130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0" lang="en" sz="2000"/>
              <a:t>C</a:t>
            </a:r>
            <a:r>
              <a:rPr b="0" lang="en" sz="2000"/>
              <a:t>ameron Ake</a:t>
            </a:r>
            <a:endParaRPr b="0" sz="20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0" lang="en" sz="2000"/>
              <a:t>Computer Systems Research Lab</a:t>
            </a:r>
            <a:endParaRPr b="0" sz="20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0" lang="en" sz="2000"/>
              <a:t>Dr. Yilmaz </a:t>
            </a:r>
            <a:r>
              <a:rPr b="0" lang="en" sz="2000"/>
              <a:t>Period 4</a:t>
            </a:r>
            <a:endParaRPr b="0" sz="20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0" lang="en" sz="2000"/>
              <a:t>5</a:t>
            </a:r>
            <a:r>
              <a:rPr b="0" lang="en" sz="2000"/>
              <a:t>/21/2024</a:t>
            </a:r>
            <a:endParaRPr b="0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108" name="Google Shape;108;p2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M</a:t>
            </a:r>
            <a:r>
              <a:rPr lang="en" sz="2000"/>
              <a:t>aking a bot to play Ticket to Ride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Strategy board game</a:t>
            </a:r>
            <a:endParaRPr sz="1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P</a:t>
            </a:r>
            <a:r>
              <a:rPr lang="en" sz="2000"/>
              <a:t>laying a bot is </a:t>
            </a:r>
            <a:r>
              <a:rPr lang="en" sz="2000"/>
              <a:t>typically most feasible for players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Playing</a:t>
            </a:r>
            <a:r>
              <a:rPr lang="en" sz="1600"/>
              <a:t> friends online isn’t feasible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Playing in-person takes an hour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Current bots usually lose to players: hard to experiment with strategies or have fun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114" name="Google Shape;114;p27"/>
          <p:cNvSpPr txBox="1"/>
          <p:nvPr>
            <p:ph idx="1" type="body"/>
          </p:nvPr>
        </p:nvSpPr>
        <p:spPr>
          <a:xfrm>
            <a:off x="311700" y="1228675"/>
            <a:ext cx="33438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Ticket to Ride App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Game mechanics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Drawing cards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Tickets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Playing trains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Earning points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Game end</a:t>
            </a:r>
            <a:endParaRPr/>
          </a:p>
        </p:txBody>
      </p:sp>
      <p:pic>
        <p:nvPicPr>
          <p:cNvPr id="115" name="Google Shape;11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3999" y="828575"/>
            <a:ext cx="5550825" cy="32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7"/>
          <p:cNvSpPr txBox="1"/>
          <p:nvPr/>
        </p:nvSpPr>
        <p:spPr>
          <a:xfrm>
            <a:off x="3883250" y="4156425"/>
            <a:ext cx="50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SOLUTIONS</a:t>
            </a:r>
            <a:endParaRPr/>
          </a:p>
        </p:txBody>
      </p:sp>
      <p:sp>
        <p:nvSpPr>
          <p:cNvPr id="122" name="Google Shape;122;p28"/>
          <p:cNvSpPr txBox="1"/>
          <p:nvPr>
            <p:ph idx="1" type="body"/>
          </p:nvPr>
        </p:nvSpPr>
        <p:spPr>
          <a:xfrm>
            <a:off x="83100" y="1228675"/>
            <a:ext cx="4260300" cy="36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Current Ticket to Ride bots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Transparently bad decisions (e.g. for routes)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Previous implementations: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Reinforcement learning?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People online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Nothing in terms of learning strategy; misimplementation</a:t>
            </a:r>
            <a:endParaRPr/>
          </a:p>
        </p:txBody>
      </p:sp>
      <p:pic>
        <p:nvPicPr>
          <p:cNvPr id="123" name="Google Shape;12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7915" y="234550"/>
            <a:ext cx="1090785" cy="2674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1350" y="240916"/>
            <a:ext cx="2003822" cy="2674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8"/>
          <p:cNvPicPr preferRelativeResize="0"/>
          <p:nvPr/>
        </p:nvPicPr>
        <p:blipFill rotWithShape="1">
          <a:blip r:embed="rId5">
            <a:alphaModFix/>
          </a:blip>
          <a:srcRect b="0" l="1919" r="1601" t="1710"/>
          <a:stretch/>
        </p:blipFill>
        <p:spPr>
          <a:xfrm>
            <a:off x="6155525" y="2825094"/>
            <a:ext cx="2836075" cy="2167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type="title"/>
          </p:nvPr>
        </p:nvSpPr>
        <p:spPr>
          <a:xfrm>
            <a:off x="311700" y="2166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Mine BETTER?</a:t>
            </a:r>
            <a:endParaRPr/>
          </a:p>
        </p:txBody>
      </p:sp>
      <p:sp>
        <p:nvSpPr>
          <p:cNvPr id="131" name="Google Shape;131;p29"/>
          <p:cNvSpPr txBox="1"/>
          <p:nvPr>
            <p:ph idx="1" type="body"/>
          </p:nvPr>
        </p:nvSpPr>
        <p:spPr>
          <a:xfrm>
            <a:off x="311700" y="9238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Discussed in part </a:t>
            </a:r>
            <a:r>
              <a:rPr lang="en" sz="1600"/>
              <a:t>earlier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Use varying parameters to simulate different strategies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Many iterations of bots playing against each other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Using genetic algorithm: bots actually “learn” good strategies on their own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More tailorable to choose bots at any </a:t>
            </a:r>
            <a:r>
              <a:rPr lang="en" sz="1600"/>
              <a:t>particular desired skill level</a:t>
            </a:r>
            <a:endParaRPr sz="1600"/>
          </a:p>
        </p:txBody>
      </p:sp>
      <p:sp>
        <p:nvSpPr>
          <p:cNvPr id="132" name="Google Shape;132;p29"/>
          <p:cNvSpPr txBox="1"/>
          <p:nvPr>
            <p:ph type="title"/>
          </p:nvPr>
        </p:nvSpPr>
        <p:spPr>
          <a:xfrm>
            <a:off x="311700" y="28074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Novelty</a:t>
            </a:r>
            <a:endParaRPr/>
          </a:p>
        </p:txBody>
      </p:sp>
      <p:sp>
        <p:nvSpPr>
          <p:cNvPr id="133" name="Google Shape;133;p29"/>
          <p:cNvSpPr txBox="1"/>
          <p:nvPr>
            <p:ph idx="1" type="body"/>
          </p:nvPr>
        </p:nvSpPr>
        <p:spPr>
          <a:xfrm>
            <a:off x="311700" y="3514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New implementation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Nobody has made a bot with this algorithm: better (hopefully) bot!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More often that the bot wins compared to the lackluster current bots, but not so often that it will discourage humans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title"/>
          </p:nvPr>
        </p:nvSpPr>
        <p:spPr>
          <a:xfrm>
            <a:off x="464100" y="4452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</a:t>
            </a:r>
            <a:endParaRPr/>
          </a:p>
        </p:txBody>
      </p:sp>
      <p:sp>
        <p:nvSpPr>
          <p:cNvPr id="139" name="Google Shape;139;p30"/>
          <p:cNvSpPr txBox="1"/>
          <p:nvPr>
            <p:ph idx="1" type="body"/>
          </p:nvPr>
        </p:nvSpPr>
        <p:spPr>
          <a:xfrm>
            <a:off x="83100" y="1228675"/>
            <a:ext cx="4557000" cy="3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Ticket to Ride players could play challenging bots</a:t>
            </a:r>
            <a:endParaRPr/>
          </a:p>
          <a:p>
            <a:pPr indent="-32702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50"/>
              <a:buChar char="-"/>
            </a:pPr>
            <a:r>
              <a:rPr lang="en" sz="1550"/>
              <a:t>Develop abilities; enjoy game</a:t>
            </a:r>
            <a:endParaRPr sz="1550"/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</a:t>
            </a:r>
            <a:r>
              <a:rPr lang="en"/>
              <a:t>ossibilities of AI for complex games</a:t>
            </a:r>
            <a:endParaRPr/>
          </a:p>
          <a:p>
            <a:pPr indent="-32702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50"/>
              <a:buChar char="-"/>
            </a:pPr>
            <a:r>
              <a:rPr lang="en" sz="1550"/>
              <a:t>Genetic algorithm w/heuristics rare</a:t>
            </a:r>
            <a:endParaRPr sz="1550"/>
          </a:p>
        </p:txBody>
      </p:sp>
      <p:pic>
        <p:nvPicPr>
          <p:cNvPr id="140" name="Google Shape;140;p30"/>
          <p:cNvPicPr preferRelativeResize="0"/>
          <p:nvPr/>
        </p:nvPicPr>
        <p:blipFill rotWithShape="1">
          <a:blip r:embed="rId3">
            <a:alphaModFix/>
          </a:blip>
          <a:srcRect b="18075" l="28469" r="0" t="18209"/>
          <a:stretch/>
        </p:blipFill>
        <p:spPr>
          <a:xfrm>
            <a:off x="4688162" y="721025"/>
            <a:ext cx="4290138" cy="382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>
            <p:ph type="title"/>
          </p:nvPr>
        </p:nvSpPr>
        <p:spPr>
          <a:xfrm>
            <a:off x="311700" y="2166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METHOD: Heuristic Function</a:t>
            </a:r>
            <a:endParaRPr/>
          </a:p>
        </p:txBody>
      </p:sp>
      <p:sp>
        <p:nvSpPr>
          <p:cNvPr id="146" name="Google Shape;146;p31"/>
          <p:cNvSpPr txBox="1"/>
          <p:nvPr>
            <p:ph idx="1" type="body"/>
          </p:nvPr>
        </p:nvSpPr>
        <p:spPr>
          <a:xfrm>
            <a:off x="311700" y="923875"/>
            <a:ext cx="8520600" cy="20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Char char="-"/>
            </a:pPr>
            <a:r>
              <a:rPr lang="en" sz="1700">
                <a:solidFill>
                  <a:srgbClr val="666666"/>
                </a:solidFill>
              </a:rPr>
              <a:t>Bots use a heuristic function to estimate which moves will be best</a:t>
            </a:r>
            <a:endParaRPr sz="1700">
              <a:solidFill>
                <a:srgbClr val="666666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Char char="-"/>
            </a:pPr>
            <a:r>
              <a:rPr lang="en" sz="1700">
                <a:solidFill>
                  <a:srgbClr val="666666"/>
                </a:solidFill>
              </a:rPr>
              <a:t>Each bot has trainable values A, B, C, D</a:t>
            </a:r>
            <a:r>
              <a:rPr lang="en" sz="1700">
                <a:solidFill>
                  <a:srgbClr val="666666"/>
                </a:solidFill>
              </a:rPr>
              <a:t>... that determine value of the function</a:t>
            </a:r>
            <a:endParaRPr sz="1700">
              <a:solidFill>
                <a:srgbClr val="666666"/>
              </a:solidFill>
            </a:endParaRPr>
          </a:p>
        </p:txBody>
      </p:sp>
      <p:sp>
        <p:nvSpPr>
          <p:cNvPr id="147" name="Google Shape;147;p31"/>
          <p:cNvSpPr txBox="1"/>
          <p:nvPr/>
        </p:nvSpPr>
        <p:spPr>
          <a:xfrm>
            <a:off x="251700" y="2766850"/>
            <a:ext cx="8745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48" name="Google Shape;148;p31"/>
          <p:cNvSpPr/>
          <p:nvPr/>
        </p:nvSpPr>
        <p:spPr>
          <a:xfrm>
            <a:off x="328050" y="2419350"/>
            <a:ext cx="8487900" cy="20565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Heuristic Function for Good Moves:</a:t>
            </a:r>
            <a:r>
              <a:rPr lang="en">
                <a:solidFill>
                  <a:schemeClr val="dk2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>
              <a:solidFill>
                <a:schemeClr val="dk2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= A * (amount that playing trains here would help get routes) </a:t>
            </a:r>
            <a:endParaRPr>
              <a:solidFill>
                <a:schemeClr val="dk2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+ B * (change in longest route) + ... +</a:t>
            </a:r>
            <a:endParaRPr>
              <a:solidFill>
                <a:schemeClr val="dk2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+ F * (amount that taking this card would help get routes) + …</a:t>
            </a:r>
            <a:endParaRPr>
              <a:solidFill>
                <a:schemeClr val="dk2"/>
              </a:solidFill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2"/>
                </a:solidFill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...and so forth</a:t>
            </a:r>
            <a:endParaRPr sz="11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49" name="Google Shape;149;p31"/>
          <p:cNvSpPr txBox="1"/>
          <p:nvPr>
            <p:ph idx="1" type="body"/>
          </p:nvPr>
        </p:nvSpPr>
        <p:spPr>
          <a:xfrm>
            <a:off x="845100" y="4505275"/>
            <a:ext cx="8520600" cy="20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666666"/>
                </a:solidFill>
              </a:rPr>
              <a:t>The bot takes the move with the highest heuristic value!</a:t>
            </a:r>
            <a:endParaRPr sz="17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/>
          <p:nvPr>
            <p:ph type="title"/>
          </p:nvPr>
        </p:nvSpPr>
        <p:spPr>
          <a:xfrm>
            <a:off x="311700" y="2166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METHOD: Genetic Algorithm</a:t>
            </a:r>
            <a:endParaRPr/>
          </a:p>
        </p:txBody>
      </p:sp>
      <p:sp>
        <p:nvSpPr>
          <p:cNvPr id="155" name="Google Shape;155;p32"/>
          <p:cNvSpPr txBox="1"/>
          <p:nvPr>
            <p:ph idx="1" type="body"/>
          </p:nvPr>
        </p:nvSpPr>
        <p:spPr>
          <a:xfrm>
            <a:off x="362875" y="918450"/>
            <a:ext cx="8520600" cy="17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Genetic algorithm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Pit bots against each other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Have algorithm select best parameters for decision-making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Generate new bots based on the most successful bots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56" name="Google Shape;156;p32"/>
          <p:cNvSpPr/>
          <p:nvPr/>
        </p:nvSpPr>
        <p:spPr>
          <a:xfrm>
            <a:off x="816124" y="2360274"/>
            <a:ext cx="3286500" cy="1034400"/>
          </a:xfrm>
          <a:prstGeom prst="roundRect">
            <a:avLst>
              <a:gd fmla="val 16667" name="adj"/>
            </a:avLst>
          </a:prstGeom>
          <a:solidFill>
            <a:srgbClr val="00FDC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Source Code Pro"/>
                <a:ea typeface="Source Code Pro"/>
                <a:cs typeface="Source Code Pro"/>
                <a:sym typeface="Source Code Pro"/>
              </a:rPr>
              <a:t>Bots play game: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Assign each bot a probability of surviving/reproducing, based on its score in the game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57" name="Google Shape;157;p32"/>
          <p:cNvSpPr/>
          <p:nvPr/>
        </p:nvSpPr>
        <p:spPr>
          <a:xfrm>
            <a:off x="5133350" y="2536929"/>
            <a:ext cx="3286500" cy="898800"/>
          </a:xfrm>
          <a:prstGeom prst="roundRect">
            <a:avLst>
              <a:gd fmla="val 16667" name="adj"/>
            </a:avLst>
          </a:prstGeom>
          <a:solidFill>
            <a:srgbClr val="00FDC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Source Code Pro"/>
                <a:ea typeface="Source Code Pro"/>
                <a:cs typeface="Source Code Pro"/>
                <a:sym typeface="Source Code Pro"/>
              </a:rPr>
              <a:t>Bots survive:</a:t>
            </a:r>
            <a:endParaRPr b="1"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Select 10 of 20 bots to survive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58" name="Google Shape;158;p32"/>
          <p:cNvSpPr/>
          <p:nvPr/>
        </p:nvSpPr>
        <p:spPr>
          <a:xfrm>
            <a:off x="907887" y="3745142"/>
            <a:ext cx="2844000" cy="1034400"/>
          </a:xfrm>
          <a:prstGeom prst="roundRect">
            <a:avLst>
              <a:gd fmla="val 16667" name="adj"/>
            </a:avLst>
          </a:prstGeom>
          <a:solidFill>
            <a:srgbClr val="00FDC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Source Code Pro"/>
                <a:ea typeface="Source Code Pro"/>
                <a:cs typeface="Source Code Pro"/>
                <a:sym typeface="Source Code Pro"/>
              </a:rPr>
              <a:t>Create children:</a:t>
            </a:r>
            <a:endParaRPr b="1"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Child gets half of each parent’s parameters and shifts them a bit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59" name="Google Shape;159;p32"/>
          <p:cNvSpPr/>
          <p:nvPr/>
        </p:nvSpPr>
        <p:spPr>
          <a:xfrm>
            <a:off x="4108136" y="2826128"/>
            <a:ext cx="1019700" cy="32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6666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2"/>
          <p:cNvSpPr/>
          <p:nvPr/>
        </p:nvSpPr>
        <p:spPr>
          <a:xfrm rot="5400000">
            <a:off x="6497191" y="3445682"/>
            <a:ext cx="315300" cy="32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6666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2"/>
          <p:cNvSpPr/>
          <p:nvPr/>
        </p:nvSpPr>
        <p:spPr>
          <a:xfrm rot="10799256">
            <a:off x="3746749" y="4065217"/>
            <a:ext cx="1386600" cy="32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6666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2"/>
          <p:cNvSpPr/>
          <p:nvPr/>
        </p:nvSpPr>
        <p:spPr>
          <a:xfrm>
            <a:off x="5133356" y="3776036"/>
            <a:ext cx="3286500" cy="898800"/>
          </a:xfrm>
          <a:prstGeom prst="roundRect">
            <a:avLst>
              <a:gd fmla="val 16667" name="adj"/>
            </a:avLst>
          </a:prstGeom>
          <a:solidFill>
            <a:srgbClr val="00FDC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Source Code Pro"/>
                <a:ea typeface="Source Code Pro"/>
                <a:cs typeface="Source Code Pro"/>
                <a:sym typeface="Source Code Pro"/>
              </a:rPr>
              <a:t>Bots breed:</a:t>
            </a:r>
            <a:endParaRPr b="1"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Select pairs of bots to breed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63" name="Google Shape;163;p32"/>
          <p:cNvSpPr/>
          <p:nvPr/>
        </p:nvSpPr>
        <p:spPr>
          <a:xfrm flipH="1" rot="5400000">
            <a:off x="2044544" y="3406875"/>
            <a:ext cx="344700" cy="32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6666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2"/>
          <p:cNvSpPr/>
          <p:nvPr/>
        </p:nvSpPr>
        <p:spPr>
          <a:xfrm>
            <a:off x="4085200" y="3544950"/>
            <a:ext cx="896100" cy="320400"/>
          </a:xfrm>
          <a:prstGeom prst="roundRect">
            <a:avLst>
              <a:gd fmla="val 16667" name="adj"/>
            </a:avLst>
          </a:prstGeom>
          <a:solidFill>
            <a:srgbClr val="78909C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 u="sng">
                <a:latin typeface="Source Code Pro"/>
                <a:ea typeface="Source Code Pro"/>
                <a:cs typeface="Source Code Pro"/>
                <a:sym typeface="Source Code Pro"/>
              </a:rPr>
              <a:t>repeat!</a:t>
            </a:r>
            <a:endParaRPr i="1" sz="1200" u="sng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70" name="Google Shape;170;p33"/>
          <p:cNvSpPr txBox="1"/>
          <p:nvPr>
            <p:ph idx="1" type="body"/>
          </p:nvPr>
        </p:nvSpPr>
        <p:spPr>
          <a:xfrm>
            <a:off x="311700" y="1000075"/>
            <a:ext cx="7736400" cy="37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Algorithm had a “favorite bot”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Performed better than other bots, but scored only somewhat above-average (</a:t>
            </a:r>
            <a:r>
              <a:rPr b="1" lang="en"/>
              <a:t>114 points</a:t>
            </a:r>
            <a:r>
              <a:rPr lang="en"/>
              <a:t> in session 1 of training, </a:t>
            </a:r>
            <a:r>
              <a:rPr b="1" lang="en"/>
              <a:t>104 </a:t>
            </a:r>
            <a:r>
              <a:rPr lang="en"/>
              <a:t>in session 4)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Bugs—often four or five per day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Time issues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Complexity of card-drawing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Gray trains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Each training session taking 30 minutes to an hour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Displays on the next few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slides</a:t>
            </a:r>
            <a:r>
              <a:rPr lang="en"/>
              <a:t>...</a:t>
            </a:r>
            <a:endParaRPr/>
          </a:p>
        </p:txBody>
      </p:sp>
      <p:pic>
        <p:nvPicPr>
          <p:cNvPr id="171" name="Google Shape;17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6075" y="4610025"/>
            <a:ext cx="4455675" cy="2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3"/>
          <p:cNvSpPr txBox="1"/>
          <p:nvPr>
            <p:ph idx="1" type="body"/>
          </p:nvPr>
        </p:nvSpPr>
        <p:spPr>
          <a:xfrm>
            <a:off x="4512275" y="4329350"/>
            <a:ext cx="4632300" cy="3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ct val="90776"/>
              <a:buNone/>
            </a:pPr>
            <a:r>
              <a:rPr lang="en" sz="1030"/>
              <a:t>T</a:t>
            </a:r>
            <a:r>
              <a:rPr lang="en" sz="1030"/>
              <a:t>he face-up deck should only be 5 cards. Here, it is 11. I love bugs!</a:t>
            </a:r>
            <a:endParaRPr sz="103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>
            <p:ph type="title"/>
          </p:nvPr>
        </p:nvSpPr>
        <p:spPr>
          <a:xfrm>
            <a:off x="311700" y="-119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RandomBots</a:t>
            </a:r>
            <a:endParaRPr/>
          </a:p>
        </p:txBody>
      </p:sp>
      <p:sp>
        <p:nvSpPr>
          <p:cNvPr id="178" name="Google Shape;178;p34"/>
          <p:cNvSpPr txBox="1"/>
          <p:nvPr>
            <p:ph idx="1" type="body"/>
          </p:nvPr>
        </p:nvSpPr>
        <p:spPr>
          <a:xfrm>
            <a:off x="311700" y="542875"/>
            <a:ext cx="7736400" cy="7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Note how they’ve all taken small routes: RNG told them to take a route and they took routes despite not having accumulated many cards of the same color. Shocking no one, the RandomBots are not particularly smart.</a:t>
            </a:r>
            <a:endParaRPr/>
          </a:p>
        </p:txBody>
      </p:sp>
      <p:pic>
        <p:nvPicPr>
          <p:cNvPr id="179" name="Google Shape;17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188475"/>
            <a:ext cx="8278450" cy="382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5"/>
          <p:cNvSpPr txBox="1"/>
          <p:nvPr>
            <p:ph type="title"/>
          </p:nvPr>
        </p:nvSpPr>
        <p:spPr>
          <a:xfrm>
            <a:off x="159300" y="642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HeuristicBot Rationale Demo</a:t>
            </a:r>
            <a:endParaRPr/>
          </a:p>
        </p:txBody>
      </p:sp>
      <p:sp>
        <p:nvSpPr>
          <p:cNvPr id="185" name="Google Shape;185;p35"/>
          <p:cNvSpPr txBox="1"/>
          <p:nvPr>
            <p:ph idx="1" type="body"/>
          </p:nvPr>
        </p:nvSpPr>
        <p:spPr>
          <a:xfrm>
            <a:off x="159300" y="771475"/>
            <a:ext cx="7736400" cy="7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350"/>
              <a:t>Left</a:t>
            </a:r>
            <a:r>
              <a:rPr lang="en" sz="1350"/>
              <a:t>: The bot takes a route directly in both of the tickets it’s trying to take.</a:t>
            </a:r>
            <a:endParaRPr sz="1350"/>
          </a:p>
        </p:txBody>
      </p:sp>
      <p:pic>
        <p:nvPicPr>
          <p:cNvPr id="186" name="Google Shape;186;p35" title="RPReplay_Final1713467856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8675" y="1437475"/>
            <a:ext cx="4366284" cy="25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5"/>
          <p:cNvSpPr txBox="1"/>
          <p:nvPr>
            <p:ph idx="1" type="body"/>
          </p:nvPr>
        </p:nvSpPr>
        <p:spPr>
          <a:xfrm>
            <a:off x="1226100" y="4048075"/>
            <a:ext cx="7736400" cy="7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Right</a:t>
            </a:r>
            <a:r>
              <a:rPr lang="en"/>
              <a:t>: The bot takes a blue card, important for taking Omaha-Chicago, a route in both of the tickets it’s trying to take.</a:t>
            </a:r>
            <a:endParaRPr/>
          </a:p>
        </p:txBody>
      </p:sp>
      <p:pic>
        <p:nvPicPr>
          <p:cNvPr id="188" name="Google Shape;188;p35" title="RPReplay_Final1713467803.mo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025" y="1439950"/>
            <a:ext cx="4366276" cy="25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/>
          <p:nvPr/>
        </p:nvSpPr>
        <p:spPr>
          <a:xfrm>
            <a:off x="4156125" y="1661025"/>
            <a:ext cx="4911600" cy="34137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94" name="Google Shape;194;p36"/>
          <p:cNvSpPr txBox="1"/>
          <p:nvPr>
            <p:ph type="title"/>
          </p:nvPr>
        </p:nvSpPr>
        <p:spPr>
          <a:xfrm>
            <a:off x="159300" y="642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</a:t>
            </a:r>
            <a:r>
              <a:rPr lang="en"/>
              <a:t>HeuristicBot Game Demo</a:t>
            </a:r>
            <a:endParaRPr/>
          </a:p>
        </p:txBody>
      </p:sp>
      <p:sp>
        <p:nvSpPr>
          <p:cNvPr id="195" name="Google Shape;195;p36"/>
          <p:cNvSpPr txBox="1"/>
          <p:nvPr>
            <p:ph idx="1" type="body"/>
          </p:nvPr>
        </p:nvSpPr>
        <p:spPr>
          <a:xfrm>
            <a:off x="159300" y="771475"/>
            <a:ext cx="8921700" cy="7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Green</a:t>
            </a:r>
            <a:r>
              <a:rPr lang="en"/>
              <a:t> and </a:t>
            </a:r>
            <a:r>
              <a:rPr b="1" lang="en"/>
              <a:t>Yellow</a:t>
            </a:r>
            <a:r>
              <a:rPr lang="en"/>
              <a:t> bots are copies of the final HeuristicBot, playing against RandomBots </a:t>
            </a:r>
            <a:r>
              <a:rPr b="1" lang="en"/>
              <a:t>Red</a:t>
            </a:r>
            <a:r>
              <a:rPr lang="en"/>
              <a:t> and </a:t>
            </a:r>
            <a:r>
              <a:rPr b="1" lang="en"/>
              <a:t>Blue</a:t>
            </a:r>
            <a:r>
              <a:rPr lang="en"/>
              <a:t> for contrast.</a:t>
            </a:r>
            <a:endParaRPr/>
          </a:p>
        </p:txBody>
      </p:sp>
      <p:pic>
        <p:nvPicPr>
          <p:cNvPr id="196" name="Google Shape;196;p36"/>
          <p:cNvPicPr preferRelativeResize="0"/>
          <p:nvPr/>
        </p:nvPicPr>
        <p:blipFill rotWithShape="1">
          <a:blip r:embed="rId3">
            <a:alphaModFix/>
          </a:blip>
          <a:srcRect b="0" l="0" r="83226" t="0"/>
          <a:stretch/>
        </p:blipFill>
        <p:spPr>
          <a:xfrm>
            <a:off x="381000" y="1599725"/>
            <a:ext cx="2202250" cy="138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8950" y="3124650"/>
            <a:ext cx="2247950" cy="13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6"/>
          <p:cNvSpPr txBox="1"/>
          <p:nvPr>
            <p:ph idx="1" type="body"/>
          </p:nvPr>
        </p:nvSpPr>
        <p:spPr>
          <a:xfrm>
            <a:off x="6900" y="4505275"/>
            <a:ext cx="4295700" cy="7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300"/>
              <a:t>Note:</a:t>
            </a:r>
            <a:r>
              <a:rPr lang="en" sz="1300"/>
              <a:t> Video demo of code implausible, as code takes 30+ minutes to run</a:t>
            </a:r>
            <a:endParaRPr sz="1300"/>
          </a:p>
        </p:txBody>
      </p:sp>
      <p:pic>
        <p:nvPicPr>
          <p:cNvPr id="199" name="Google Shape;199;p36" title="Chart"/>
          <p:cNvPicPr preferRelativeResize="0"/>
          <p:nvPr/>
        </p:nvPicPr>
        <p:blipFill rotWithShape="1">
          <a:blip r:embed="rId5">
            <a:alphaModFix/>
          </a:blip>
          <a:srcRect b="3250" l="0" r="0" t="2525"/>
          <a:stretch/>
        </p:blipFill>
        <p:spPr>
          <a:xfrm>
            <a:off x="4393375" y="2273375"/>
            <a:ext cx="4475700" cy="2610300"/>
          </a:xfrm>
          <a:prstGeom prst="roundRect">
            <a:avLst>
              <a:gd fmla="val 8401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0" name="Google Shape;200;p36"/>
          <p:cNvSpPr txBox="1"/>
          <p:nvPr>
            <p:ph idx="1" type="body"/>
          </p:nvPr>
        </p:nvSpPr>
        <p:spPr>
          <a:xfrm>
            <a:off x="4483413" y="1685000"/>
            <a:ext cx="4295700" cy="7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300"/>
              <a:t>Comparison of average bot scores </a:t>
            </a:r>
            <a:r>
              <a:rPr lang="en" sz="1300"/>
              <a:t>(</a:t>
            </a:r>
            <a:r>
              <a:rPr lang="en" sz="1300"/>
              <a:t>around</a:t>
            </a:r>
            <a:r>
              <a:rPr lang="en" sz="1300"/>
              <a:t> 10 repetitions)</a:t>
            </a:r>
            <a:endParaRPr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06" name="Google Shape;206;p3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</a:t>
            </a:r>
            <a:r>
              <a:rPr lang="en"/>
              <a:t>ifficulty of implementing reinforcement learning: super </a:t>
            </a:r>
            <a:r>
              <a:rPr lang="en"/>
              <a:t>complicated game</a:t>
            </a:r>
            <a:endParaRPr/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Copyright problematic for simply creating a website: </a:t>
            </a:r>
            <a:endParaRPr/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Possibility of creating spinoff</a:t>
            </a:r>
            <a:endParaRPr/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Alternative possibility of selling AI algorithms to Days of Wonder to implement</a:t>
            </a:r>
            <a:endParaRPr/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Bots, although much stronger than RandomBots, don’t excel as highly</a:t>
            </a:r>
            <a:endParaRPr/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Actual players can get &gt;100 points against RandomBots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AND FUTURE WORK</a:t>
            </a:r>
            <a:endParaRPr/>
          </a:p>
        </p:txBody>
      </p:sp>
      <p:sp>
        <p:nvSpPr>
          <p:cNvPr id="212" name="Google Shape;212;p3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Genetic algorithm produces suitable bots, although not excellent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Limited, but better than RandomBot / other HeuristicBots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Potential future work: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Final HeuristicBot vs. human-designed HeuristicBot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Average human player vs. HeuristicBot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More heuristics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Exploring reinforcement learning based more directly on the board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218" name="Google Shape;218;p3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Questions?</a:t>
            </a:r>
            <a:endParaRPr/>
          </a:p>
        </p:txBody>
      </p:sp>
      <p:pic>
        <p:nvPicPr>
          <p:cNvPr id="219" name="Google Shape;21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2175" y="-385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25" name="Google Shape;225;p4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Ticket to Ride app from Days of Wonder on App Store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Stack Overflow for Python tips (most notably, </a:t>
            </a:r>
            <a:r>
              <a:rPr lang="en" u="sng">
                <a:solidFill>
                  <a:schemeClr val="hlink"/>
                </a:solidFill>
                <a:hlinkClick r:id="rId3"/>
              </a:rPr>
              <a:t>sorting out data structures and classes in different files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Destination ticket data from </a:t>
            </a:r>
            <a:r>
              <a:rPr lang="en" u="sng">
                <a:solidFill>
                  <a:schemeClr val="hlink"/>
                </a:solidFill>
                <a:hlinkClick r:id="rId4"/>
              </a:rPr>
              <a:t>Fandom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5"/>
              </a:rPr>
              <a:t>Reinforcement Learning Is Bad For TTR paper</a:t>
            </a:r>
            <a:r>
              <a:rPr lang="en"/>
              <a:t> (Daniel Dinjian &amp; Cuong Nguyen, from Tufts University)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6"/>
              </a:rPr>
              <a:t>Reddit Person Who Made More Basic Bot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7"/>
              </a:rPr>
              <a:t>Github With Bad Data Structures and Java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8"/>
              </a:rPr>
              <a:t>railbyrail.com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9"/>
              </a:rPr>
              <a:t>Professors who Used Reinforcement Learning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Used </a:t>
            </a:r>
            <a:r>
              <a:rPr lang="en" u="sng">
                <a:solidFill>
                  <a:schemeClr val="hlink"/>
                </a:solidFill>
                <a:hlinkClick r:id="rId10"/>
              </a:rPr>
              <a:t>this image link</a:t>
            </a:r>
            <a:r>
              <a:rPr lang="en"/>
              <a:t> to visualize some stuff without the app when necessary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200">
              <a:solidFill>
                <a:schemeClr val="accent1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rPr>
              <a:t>                                    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